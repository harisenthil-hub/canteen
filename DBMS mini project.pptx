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Proxima Nova Bold" charset="1" panose="02000506030000020004"/>
      <p:regular r:id="rId27"/>
    </p:embeddedFont>
    <p:embeddedFont>
      <p:font typeface="Nunito" charset="1" panose="00000000000000000000"/>
      <p:regular r:id="rId28"/>
    </p:embeddedFont>
    <p:embeddedFont>
      <p:font typeface="Open Sans" charset="1" panose="020B0606030504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13195961" y="5935345"/>
            <a:ext cx="8126677" cy="8126677"/>
          </a:xfrm>
          <a:custGeom>
            <a:avLst/>
            <a:gdLst/>
            <a:ahLst/>
            <a:cxnLst/>
            <a:rect r="r" b="b" t="t" l="l"/>
            <a:pathLst>
              <a:path h="8126677" w="8126677">
                <a:moveTo>
                  <a:pt x="0" y="0"/>
                </a:moveTo>
                <a:lnTo>
                  <a:pt x="8126678" y="0"/>
                </a:lnTo>
                <a:lnTo>
                  <a:pt x="8126678" y="8126677"/>
                </a:lnTo>
                <a:lnTo>
                  <a:pt x="0" y="81266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0137" y="-174299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4970" y="-1387826"/>
            <a:ext cx="3404467" cy="3404467"/>
          </a:xfrm>
          <a:custGeom>
            <a:avLst/>
            <a:gdLst/>
            <a:ahLst/>
            <a:cxnLst/>
            <a:rect r="r" b="b" t="t" l="l"/>
            <a:pathLst>
              <a:path h="3404467" w="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897411" y="6636795"/>
            <a:ext cx="6723778" cy="6723778"/>
          </a:xfrm>
          <a:custGeom>
            <a:avLst/>
            <a:gdLst/>
            <a:ahLst/>
            <a:cxnLst/>
            <a:rect r="r" b="b" t="t" l="l"/>
            <a:pathLst>
              <a:path h="6723778" w="6723778">
                <a:moveTo>
                  <a:pt x="0" y="0"/>
                </a:moveTo>
                <a:lnTo>
                  <a:pt x="6723778" y="0"/>
                </a:lnTo>
                <a:lnTo>
                  <a:pt x="6723778" y="6723778"/>
                </a:lnTo>
                <a:lnTo>
                  <a:pt x="0" y="6723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876906" y="7616290"/>
            <a:ext cx="4764788" cy="476478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99020" y="-891876"/>
            <a:ext cx="2412567" cy="24125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2920469" y="3235324"/>
            <a:ext cx="14787263" cy="1377928"/>
          </a:xfrm>
          <a:prstGeom prst="rect">
            <a:avLst/>
          </a:prstGeom>
        </p:spPr>
        <p:txBody>
          <a:bodyPr anchor="t" rtlCol="false" tIns="0" lIns="0" bIns="0" rIns="0">
            <a:spAutoFit/>
          </a:bodyPr>
          <a:lstStyle/>
          <a:p>
            <a:pPr algn="ctr">
              <a:lnSpc>
                <a:spcPts val="11201"/>
              </a:lnSpc>
            </a:pPr>
            <a:r>
              <a:rPr lang="en-US" b="true" sz="8000">
                <a:solidFill>
                  <a:srgbClr val="000000"/>
                </a:solidFill>
                <a:latin typeface="Proxima Nova Bold"/>
                <a:ea typeface="Proxima Nova Bold"/>
                <a:cs typeface="Proxima Nova Bold"/>
                <a:sym typeface="Proxima Nova Bold"/>
              </a:rPr>
              <a:t>DATABASE DESIGN PROJECT</a:t>
            </a:r>
          </a:p>
        </p:txBody>
      </p:sp>
      <p:grpSp>
        <p:nvGrpSpPr>
          <p:cNvPr name="Group 13" id="13"/>
          <p:cNvGrpSpPr/>
          <p:nvPr/>
        </p:nvGrpSpPr>
        <p:grpSpPr>
          <a:xfrm rot="0">
            <a:off x="5854559" y="5143500"/>
            <a:ext cx="6578882" cy="1023974"/>
            <a:chOff x="0" y="0"/>
            <a:chExt cx="1732710" cy="269689"/>
          </a:xfrm>
        </p:grpSpPr>
        <p:sp>
          <p:nvSpPr>
            <p:cNvPr name="Freeform 14" id="14"/>
            <p:cNvSpPr/>
            <p:nvPr/>
          </p:nvSpPr>
          <p:spPr>
            <a:xfrm flipH="false" flipV="false" rot="0">
              <a:off x="0" y="0"/>
              <a:ext cx="1732710" cy="269689"/>
            </a:xfrm>
            <a:custGeom>
              <a:avLst/>
              <a:gdLst/>
              <a:ahLst/>
              <a:cxnLst/>
              <a:rect r="r" b="b" t="t" l="l"/>
              <a:pathLst>
                <a:path h="269689" w="1732710">
                  <a:moveTo>
                    <a:pt x="60016" y="0"/>
                  </a:moveTo>
                  <a:lnTo>
                    <a:pt x="1672694" y="0"/>
                  </a:lnTo>
                  <a:cubicBezTo>
                    <a:pt x="1688611" y="0"/>
                    <a:pt x="1703876" y="6323"/>
                    <a:pt x="1715132" y="17578"/>
                  </a:cubicBezTo>
                  <a:cubicBezTo>
                    <a:pt x="1726387" y="28833"/>
                    <a:pt x="1732710" y="44099"/>
                    <a:pt x="1732710" y="60016"/>
                  </a:cubicBezTo>
                  <a:lnTo>
                    <a:pt x="1732710" y="209673"/>
                  </a:lnTo>
                  <a:cubicBezTo>
                    <a:pt x="1732710" y="242819"/>
                    <a:pt x="1705840" y="269689"/>
                    <a:pt x="1672694" y="269689"/>
                  </a:cubicBezTo>
                  <a:lnTo>
                    <a:pt x="60016" y="269689"/>
                  </a:lnTo>
                  <a:cubicBezTo>
                    <a:pt x="44099" y="269689"/>
                    <a:pt x="28833" y="263366"/>
                    <a:pt x="17578" y="252110"/>
                  </a:cubicBezTo>
                  <a:cubicBezTo>
                    <a:pt x="6323" y="240855"/>
                    <a:pt x="0" y="225590"/>
                    <a:pt x="0" y="209673"/>
                  </a:cubicBezTo>
                  <a:lnTo>
                    <a:pt x="0" y="60016"/>
                  </a:lnTo>
                  <a:cubicBezTo>
                    <a:pt x="0" y="44099"/>
                    <a:pt x="6323" y="28833"/>
                    <a:pt x="17578" y="17578"/>
                  </a:cubicBezTo>
                  <a:cubicBezTo>
                    <a:pt x="28833" y="6323"/>
                    <a:pt x="44099" y="0"/>
                    <a:pt x="60016" y="0"/>
                  </a:cubicBezTo>
                  <a:close/>
                </a:path>
              </a:pathLst>
            </a:custGeom>
            <a:solidFill>
              <a:srgbClr val="000000">
                <a:alpha val="0"/>
              </a:srgbClr>
            </a:solidFill>
            <a:ln w="38100" cap="rnd">
              <a:solidFill>
                <a:srgbClr val="474646"/>
              </a:solidFill>
              <a:prstDash val="solid"/>
              <a:round/>
            </a:ln>
          </p:spPr>
        </p:sp>
        <p:sp>
          <p:nvSpPr>
            <p:cNvPr name="TextBox 15" id="15"/>
            <p:cNvSpPr txBox="true"/>
            <p:nvPr/>
          </p:nvSpPr>
          <p:spPr>
            <a:xfrm>
              <a:off x="0" y="-38100"/>
              <a:ext cx="1732710" cy="30778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6245186" y="5226862"/>
            <a:ext cx="5797628" cy="771525"/>
          </a:xfrm>
          <a:prstGeom prst="rect">
            <a:avLst/>
          </a:prstGeom>
        </p:spPr>
        <p:txBody>
          <a:bodyPr anchor="t" rtlCol="false" tIns="0" lIns="0" bIns="0" rIns="0">
            <a:spAutoFit/>
          </a:bodyPr>
          <a:lstStyle/>
          <a:p>
            <a:pPr algn="ctr">
              <a:lnSpc>
                <a:spcPts val="6299"/>
              </a:lnSpc>
            </a:pPr>
            <a:r>
              <a:rPr lang="en-US" sz="4500">
                <a:solidFill>
                  <a:srgbClr val="000000"/>
                </a:solidFill>
                <a:latin typeface="Nunito"/>
                <a:ea typeface="Nunito"/>
                <a:cs typeface="Nunito"/>
                <a:sym typeface="Nunito"/>
              </a:rPr>
              <a:t>Group 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085116" y="1230454"/>
            <a:ext cx="10117768"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INTRODUCTION</a:t>
            </a:r>
          </a:p>
        </p:txBody>
      </p:sp>
      <p:sp>
        <p:nvSpPr>
          <p:cNvPr name="TextBox 5" id="5"/>
          <p:cNvSpPr txBox="true"/>
          <p:nvPr/>
        </p:nvSpPr>
        <p:spPr>
          <a:xfrm rot="0">
            <a:off x="1242403" y="3515778"/>
            <a:ext cx="15803195" cy="5283835"/>
          </a:xfrm>
          <a:prstGeom prst="rect">
            <a:avLst/>
          </a:prstGeom>
        </p:spPr>
        <p:txBody>
          <a:bodyPr anchor="t" rtlCol="false" tIns="0" lIns="0" bIns="0" rIns="0">
            <a:spAutoFit/>
          </a:bodyPr>
          <a:lstStyle/>
          <a:p>
            <a:pPr algn="just" marL="734056" indent="-367028" lvl="1">
              <a:lnSpc>
                <a:spcPts val="4759"/>
              </a:lnSpc>
              <a:buFont typeface="Arial"/>
              <a:buChar char="•"/>
            </a:pPr>
            <a:r>
              <a:rPr lang="en-US" sz="3399">
                <a:solidFill>
                  <a:srgbClr val="000000"/>
                </a:solidFill>
                <a:latin typeface="Nunito"/>
                <a:ea typeface="Nunito"/>
                <a:cs typeface="Nunito"/>
                <a:sym typeface="Nunito"/>
              </a:rPr>
              <a:t>Campus canteens often face long queues, especially during peak hours, causing students to lose valuable time.</a:t>
            </a:r>
          </a:p>
          <a:p>
            <a:pPr algn="just" marL="734056" indent="-367028" lvl="1">
              <a:lnSpc>
                <a:spcPts val="4759"/>
              </a:lnSpc>
              <a:buFont typeface="Arial"/>
              <a:buChar char="•"/>
            </a:pPr>
            <a:r>
              <a:rPr lang="en-US" sz="3399">
                <a:solidFill>
                  <a:srgbClr val="000000"/>
                </a:solidFill>
                <a:latin typeface="Nunito"/>
                <a:ea typeface="Nunito"/>
                <a:cs typeface="Nunito"/>
                <a:sym typeface="Nunito"/>
              </a:rPr>
              <a:t>Traditional ordering methods are manual and inefficient, leading to delays and mismanagement.</a:t>
            </a:r>
          </a:p>
          <a:p>
            <a:pPr algn="just" marL="734056" indent="-367028" lvl="1">
              <a:lnSpc>
                <a:spcPts val="4759"/>
              </a:lnSpc>
              <a:buFont typeface="Arial"/>
              <a:buChar char="•"/>
            </a:pPr>
            <a:r>
              <a:rPr lang="en-US" sz="3399">
                <a:solidFill>
                  <a:srgbClr val="000000"/>
                </a:solidFill>
                <a:latin typeface="Nunito"/>
                <a:ea typeface="Nunito"/>
                <a:cs typeface="Nunito"/>
                <a:sym typeface="Nunito"/>
              </a:rPr>
              <a:t>There is a growing need for a digital solution that allows students to pre-order food and helps canteen staff manage orders efficiently.</a:t>
            </a:r>
          </a:p>
          <a:p>
            <a:pPr algn="l" marL="734056" indent="-367028" lvl="1">
              <a:lnSpc>
                <a:spcPts val="4759"/>
              </a:lnSpc>
              <a:buFont typeface="Arial"/>
              <a:buChar char="•"/>
            </a:pPr>
            <a:r>
              <a:rPr lang="en-US" sz="3399">
                <a:solidFill>
                  <a:srgbClr val="000000"/>
                </a:solidFill>
                <a:latin typeface="Nunito"/>
                <a:ea typeface="Nunito"/>
                <a:cs typeface="Nunito"/>
                <a:sym typeface="Nunito"/>
              </a:rPr>
              <a:t>Our project,Foodzy, aims to streamline the ordering process, reduce waiting time, and enhance the overall campus dining experience.</a:t>
            </a:r>
          </a:p>
          <a:p>
            <a:pPr algn="ctr">
              <a:lnSpc>
                <a:spcPts val="3919"/>
              </a:lnSpc>
            </a:pPr>
          </a:p>
        </p:txBody>
      </p:sp>
      <p:sp>
        <p:nvSpPr>
          <p:cNvPr name="Freeform 6" id="6"/>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2319137" y="9258300"/>
            <a:ext cx="3911463" cy="3911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941078" y="1693556"/>
            <a:ext cx="20843689" cy="863589"/>
          </a:xfrm>
          <a:prstGeom prst="rect">
            <a:avLst/>
          </a:prstGeom>
        </p:spPr>
        <p:txBody>
          <a:bodyPr anchor="t" rtlCol="false" tIns="0" lIns="0" bIns="0" rIns="0">
            <a:spAutoFit/>
          </a:bodyPr>
          <a:lstStyle/>
          <a:p>
            <a:pPr algn="ctr">
              <a:lnSpc>
                <a:spcPts val="7000"/>
              </a:lnSpc>
            </a:pPr>
            <a:r>
              <a:rPr lang="en-US" b="true" sz="5000">
                <a:solidFill>
                  <a:srgbClr val="000000"/>
                </a:solidFill>
                <a:latin typeface="Proxima Nova Bold"/>
                <a:ea typeface="Proxima Nova Bold"/>
                <a:cs typeface="Proxima Nova Bold"/>
                <a:sym typeface="Proxima Nova Bold"/>
              </a:rPr>
              <a:t>PROBLEM STATEMENT – CURRENT SCENARIO </a:t>
            </a:r>
          </a:p>
        </p:txBody>
      </p:sp>
      <p:sp>
        <p:nvSpPr>
          <p:cNvPr name="TextBox 5" id="5"/>
          <p:cNvSpPr txBox="true"/>
          <p:nvPr/>
        </p:nvSpPr>
        <p:spPr>
          <a:xfrm rot="0">
            <a:off x="1365467" y="3282733"/>
            <a:ext cx="15557067" cy="4686300"/>
          </a:xfrm>
          <a:prstGeom prst="rect">
            <a:avLst/>
          </a:prstGeom>
        </p:spPr>
        <p:txBody>
          <a:bodyPr anchor="t" rtlCol="false" tIns="0" lIns="0" bIns="0" rIns="0">
            <a:spAutoFit/>
          </a:bodyPr>
          <a:lstStyle/>
          <a:p>
            <a:pPr algn="ctr">
              <a:lnSpc>
                <a:spcPts val="4199"/>
              </a:lnSpc>
            </a:pPr>
            <a:r>
              <a:rPr lang="en-US" sz="2999">
                <a:solidFill>
                  <a:srgbClr val="000000"/>
                </a:solidFill>
                <a:latin typeface="Nunito"/>
                <a:ea typeface="Nunito"/>
                <a:cs typeface="Nunito"/>
                <a:sym typeface="Nunito"/>
              </a:rPr>
              <a:t>Campus canteens face significant challenges in handling large crowds during peak hours. Students often have to wait in long queues, sometimes up to 30 minutes or more, which results in wasted time and frustration. Manual order-taking systems are inefficient, prone to errors, and unable to manage high-volume demand effectively. Menu changes, stock availability, and special orders are often mismanaged, creating confusion for both students and staff. Additionally, there is no real-time monitoring of orders or queue management, making it difficult to streamline operations or provide timely service. These issues collectively result in a poor dining experience and highlight the urgent need for a technological solution that can address both student convenience and canteen efficiency.</a:t>
            </a:r>
          </a:p>
        </p:txBody>
      </p:sp>
      <p:sp>
        <p:nvSpPr>
          <p:cNvPr name="Freeform 6" id="6"/>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2319137" y="9258300"/>
            <a:ext cx="3911463" cy="3911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941078" y="1693556"/>
            <a:ext cx="20843689" cy="863589"/>
          </a:xfrm>
          <a:prstGeom prst="rect">
            <a:avLst/>
          </a:prstGeom>
        </p:spPr>
        <p:txBody>
          <a:bodyPr anchor="t" rtlCol="false" tIns="0" lIns="0" bIns="0" rIns="0">
            <a:spAutoFit/>
          </a:bodyPr>
          <a:lstStyle/>
          <a:p>
            <a:pPr algn="ctr">
              <a:lnSpc>
                <a:spcPts val="7000"/>
              </a:lnSpc>
            </a:pPr>
            <a:r>
              <a:rPr lang="en-US" b="true" sz="5000">
                <a:solidFill>
                  <a:srgbClr val="000000"/>
                </a:solidFill>
                <a:latin typeface="Proxima Nova Bold"/>
                <a:ea typeface="Proxima Nova Bold"/>
                <a:cs typeface="Proxima Nova Bold"/>
                <a:sym typeface="Proxima Nova Bold"/>
              </a:rPr>
              <a:t>PROBLEM STATEMENT – IMPLICATIONS</a:t>
            </a:r>
          </a:p>
        </p:txBody>
      </p:sp>
      <p:sp>
        <p:nvSpPr>
          <p:cNvPr name="TextBox 5" id="5"/>
          <p:cNvSpPr txBox="true"/>
          <p:nvPr/>
        </p:nvSpPr>
        <p:spPr>
          <a:xfrm rot="0">
            <a:off x="1289267" y="3282733"/>
            <a:ext cx="16410265" cy="4686300"/>
          </a:xfrm>
          <a:prstGeom prst="rect">
            <a:avLst/>
          </a:prstGeom>
        </p:spPr>
        <p:txBody>
          <a:bodyPr anchor="t" rtlCol="false" tIns="0" lIns="0" bIns="0" rIns="0">
            <a:spAutoFit/>
          </a:bodyPr>
          <a:lstStyle/>
          <a:p>
            <a:pPr algn="ctr">
              <a:lnSpc>
                <a:spcPts val="4199"/>
              </a:lnSpc>
            </a:pPr>
            <a:r>
              <a:rPr lang="en-US" sz="2999">
                <a:solidFill>
                  <a:srgbClr val="000000"/>
                </a:solidFill>
                <a:latin typeface="Nunito"/>
                <a:ea typeface="Nunito"/>
                <a:cs typeface="Nunito"/>
                <a:sym typeface="Nunito"/>
              </a:rPr>
              <a:t>The inefficiency in campus canteens not only impacts students but also has broader operational consequences. Prolonged waiting times frustrate students and may lead to skipped meals or overcrowding in other areas. Canteen staff face increased pressure and stress while trying to manage orders manually, which can result in errors, mismanagement, and slower service. The lack of da</a:t>
            </a:r>
            <a:r>
              <a:rPr lang="en-US" sz="2999">
                <a:solidFill>
                  <a:srgbClr val="000000"/>
                </a:solidFill>
                <a:latin typeface="Nunito"/>
                <a:ea typeface="Nunito"/>
                <a:cs typeface="Nunito"/>
                <a:sym typeface="Nunito"/>
              </a:rPr>
              <a:t>ta and analytics prevents staff from understanding peak demand periods or popular menu items, making resource planning difficult. Over time, these inefficiencies can affect overall student satisfaction, reduce the canteen’s operational productivity, and create a negative perception of campus facilities. Therefore, addressing these issues is essential to ensure a smooth, organized, and student-friendly dining experience.</a:t>
            </a:r>
          </a:p>
        </p:txBody>
      </p:sp>
      <p:sp>
        <p:nvSpPr>
          <p:cNvPr name="Freeform 6" id="6"/>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2319137" y="9258300"/>
            <a:ext cx="3911463" cy="3911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870599" y="1230454"/>
            <a:ext cx="8546802"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OBJECTIVE</a:t>
            </a:r>
          </a:p>
        </p:txBody>
      </p:sp>
      <p:sp>
        <p:nvSpPr>
          <p:cNvPr name="TextBox 15" id="15"/>
          <p:cNvSpPr txBox="true"/>
          <p:nvPr/>
        </p:nvSpPr>
        <p:spPr>
          <a:xfrm rot="0">
            <a:off x="1028700" y="3774858"/>
            <a:ext cx="16585767" cy="4194176"/>
          </a:xfrm>
          <a:prstGeom prst="rect">
            <a:avLst/>
          </a:prstGeom>
        </p:spPr>
        <p:txBody>
          <a:bodyPr anchor="t" rtlCol="false" tIns="0" lIns="0" bIns="0" rIns="0">
            <a:spAutoFit/>
          </a:bodyPr>
          <a:lstStyle/>
          <a:p>
            <a:pPr algn="l" marL="863593" indent="-431796" lvl="1">
              <a:lnSpc>
                <a:spcPts val="5599"/>
              </a:lnSpc>
              <a:buFont typeface="Arial"/>
              <a:buChar char="•"/>
            </a:pPr>
            <a:r>
              <a:rPr lang="en-US" sz="3999">
                <a:solidFill>
                  <a:srgbClr val="000000"/>
                </a:solidFill>
                <a:latin typeface="Nunito"/>
                <a:ea typeface="Nunito"/>
                <a:cs typeface="Nunito"/>
                <a:sym typeface="Nunito"/>
              </a:rPr>
              <a:t>Reduce waiting time and improve student convenience.</a:t>
            </a:r>
          </a:p>
          <a:p>
            <a:pPr algn="l" marL="863593" indent="-431796" lvl="1">
              <a:lnSpc>
                <a:spcPts val="5599"/>
              </a:lnSpc>
              <a:buFont typeface="Arial"/>
              <a:buChar char="•"/>
            </a:pPr>
            <a:r>
              <a:rPr lang="en-US" sz="3999">
                <a:solidFill>
                  <a:srgbClr val="000000"/>
                </a:solidFill>
                <a:latin typeface="Nunito"/>
                <a:ea typeface="Nunito"/>
                <a:cs typeface="Nunito"/>
                <a:sym typeface="Nunito"/>
              </a:rPr>
              <a:t>Enable digital pre-ordering and payment.</a:t>
            </a:r>
          </a:p>
          <a:p>
            <a:pPr algn="l" marL="863593" indent="-431796" lvl="1">
              <a:lnSpc>
                <a:spcPts val="5599"/>
              </a:lnSpc>
              <a:buFont typeface="Arial"/>
              <a:buChar char="•"/>
            </a:pPr>
            <a:r>
              <a:rPr lang="en-US" sz="3999">
                <a:solidFill>
                  <a:srgbClr val="000000"/>
                </a:solidFill>
                <a:latin typeface="Nunito"/>
                <a:ea typeface="Nunito"/>
                <a:cs typeface="Nunito"/>
                <a:sym typeface="Nunito"/>
              </a:rPr>
              <a:t>Help staff track and manage orders efficiently.</a:t>
            </a:r>
          </a:p>
          <a:p>
            <a:pPr algn="l" marL="863593" indent="-431796" lvl="1">
              <a:lnSpc>
                <a:spcPts val="5599"/>
              </a:lnSpc>
              <a:buFont typeface="Arial"/>
              <a:buChar char="•"/>
            </a:pPr>
            <a:r>
              <a:rPr lang="en-US" sz="3999">
                <a:solidFill>
                  <a:srgbClr val="000000"/>
                </a:solidFill>
                <a:latin typeface="Nunito"/>
                <a:ea typeface="Nunito"/>
                <a:cs typeface="Nunito"/>
                <a:sym typeface="Nunito"/>
              </a:rPr>
              <a:t>Optimize workflow and minimize errors.</a:t>
            </a:r>
          </a:p>
          <a:p>
            <a:pPr algn="l" marL="863593" indent="-431796" lvl="1">
              <a:lnSpc>
                <a:spcPts val="5599"/>
              </a:lnSpc>
              <a:buFont typeface="Arial"/>
              <a:buChar char="•"/>
            </a:pPr>
            <a:r>
              <a:rPr lang="en-US" sz="3999">
                <a:solidFill>
                  <a:srgbClr val="000000"/>
                </a:solidFill>
                <a:latin typeface="Nunito"/>
                <a:ea typeface="Nunito"/>
                <a:cs typeface="Nunito"/>
                <a:sym typeface="Nunito"/>
              </a:rPr>
              <a:t>Collect data for informed decision-making.</a:t>
            </a:r>
          </a:p>
          <a:p>
            <a:pPr algn="ctr">
              <a:lnSpc>
                <a:spcPts val="55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435300" y="1230454"/>
            <a:ext cx="13417401"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SOLUTION OVERVIEW</a:t>
            </a:r>
          </a:p>
        </p:txBody>
      </p:sp>
      <p:sp>
        <p:nvSpPr>
          <p:cNvPr name="TextBox 15" id="15"/>
          <p:cNvSpPr txBox="true"/>
          <p:nvPr/>
        </p:nvSpPr>
        <p:spPr>
          <a:xfrm rot="0">
            <a:off x="1028700" y="3047783"/>
            <a:ext cx="16007066" cy="4921251"/>
          </a:xfrm>
          <a:prstGeom prst="rect">
            <a:avLst/>
          </a:prstGeom>
        </p:spPr>
        <p:txBody>
          <a:bodyPr anchor="t" rtlCol="false" tIns="0" lIns="0" bIns="0" rIns="0">
            <a:spAutoFit/>
          </a:bodyPr>
          <a:lstStyle/>
          <a:p>
            <a:pPr algn="just">
              <a:lnSpc>
                <a:spcPts val="4899"/>
              </a:lnSpc>
            </a:pPr>
            <a:r>
              <a:rPr lang="en-US" sz="3499">
                <a:solidFill>
                  <a:srgbClr val="000000"/>
                </a:solidFill>
                <a:latin typeface="Nunito"/>
                <a:ea typeface="Nunito"/>
                <a:cs typeface="Nunito"/>
                <a:sym typeface="Nunito"/>
              </a:rPr>
              <a:t>Foodzy is a smart and interactive platform that bridges the gap between students and canteen staff. Students can place orders from their devices without standing in queues, while staff can receive and process orders in an organized manner. The system integrates notifications, order tracking, and digital payments to ensure a smooth experience. By leveraging technology, Foodzy transforms the traditional canteen into a data-driven, efficient, and modern service, improving satisfaction for both students and staff.The solution is scalable and can be adapted for multiple canteens across the campus.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584183" y="1373334"/>
            <a:ext cx="15119634" cy="1285865"/>
          </a:xfrm>
          <a:prstGeom prst="rect">
            <a:avLst/>
          </a:prstGeom>
        </p:spPr>
        <p:txBody>
          <a:bodyPr anchor="t" rtlCol="false" tIns="0" lIns="0" bIns="0" rIns="0">
            <a:spAutoFit/>
          </a:bodyPr>
          <a:lstStyle/>
          <a:p>
            <a:pPr algn="ctr">
              <a:lnSpc>
                <a:spcPts val="10500"/>
              </a:lnSpc>
            </a:pPr>
            <a:r>
              <a:rPr lang="en-US" b="true" sz="7500">
                <a:solidFill>
                  <a:srgbClr val="000000"/>
                </a:solidFill>
                <a:latin typeface="Proxima Nova Bold"/>
                <a:ea typeface="Proxima Nova Bold"/>
                <a:cs typeface="Proxima Nova Bold"/>
                <a:sym typeface="Proxima Nova Bold"/>
              </a:rPr>
              <a:t>FEATURES – STUDENT SIDE</a:t>
            </a:r>
          </a:p>
        </p:txBody>
      </p:sp>
      <p:grpSp>
        <p:nvGrpSpPr>
          <p:cNvPr name="Group 15" id="15"/>
          <p:cNvGrpSpPr/>
          <p:nvPr/>
        </p:nvGrpSpPr>
        <p:grpSpPr>
          <a:xfrm rot="0">
            <a:off x="2582211" y="3447873"/>
            <a:ext cx="12169378" cy="4521161"/>
            <a:chOff x="0" y="0"/>
            <a:chExt cx="3205104" cy="1190758"/>
          </a:xfrm>
        </p:grpSpPr>
        <p:sp>
          <p:nvSpPr>
            <p:cNvPr name="Freeform 16" id="16"/>
            <p:cNvSpPr/>
            <p:nvPr/>
          </p:nvSpPr>
          <p:spPr>
            <a:xfrm flipH="false" flipV="false" rot="0">
              <a:off x="0" y="0"/>
              <a:ext cx="3205104" cy="1190758"/>
            </a:xfrm>
            <a:custGeom>
              <a:avLst/>
              <a:gdLst/>
              <a:ahLst/>
              <a:cxnLst/>
              <a:rect r="r" b="b" t="t" l="l"/>
              <a:pathLst>
                <a:path h="1190758" w="3205104">
                  <a:moveTo>
                    <a:pt x="32445" y="0"/>
                  </a:moveTo>
                  <a:lnTo>
                    <a:pt x="3172659" y="0"/>
                  </a:lnTo>
                  <a:cubicBezTo>
                    <a:pt x="3181264" y="0"/>
                    <a:pt x="3189516" y="3418"/>
                    <a:pt x="3195601" y="9503"/>
                  </a:cubicBezTo>
                  <a:cubicBezTo>
                    <a:pt x="3201685" y="15588"/>
                    <a:pt x="3205104" y="23840"/>
                    <a:pt x="3205104" y="32445"/>
                  </a:cubicBezTo>
                  <a:lnTo>
                    <a:pt x="3205104" y="1158313"/>
                  </a:lnTo>
                  <a:cubicBezTo>
                    <a:pt x="3205104" y="1176232"/>
                    <a:pt x="3190578" y="1190758"/>
                    <a:pt x="3172659" y="1190758"/>
                  </a:cubicBezTo>
                  <a:lnTo>
                    <a:pt x="32445" y="1190758"/>
                  </a:lnTo>
                  <a:cubicBezTo>
                    <a:pt x="14526" y="1190758"/>
                    <a:pt x="0" y="1176232"/>
                    <a:pt x="0" y="1158313"/>
                  </a:cubicBezTo>
                  <a:lnTo>
                    <a:pt x="0" y="32445"/>
                  </a:lnTo>
                  <a:cubicBezTo>
                    <a:pt x="0" y="14526"/>
                    <a:pt x="14526" y="0"/>
                    <a:pt x="32445" y="0"/>
                  </a:cubicBezTo>
                  <a:close/>
                </a:path>
              </a:pathLst>
            </a:custGeom>
            <a:solidFill>
              <a:srgbClr val="000000">
                <a:alpha val="0"/>
              </a:srgbClr>
            </a:solidFill>
            <a:ln w="38100" cap="rnd">
              <a:solidFill>
                <a:srgbClr val="000000"/>
              </a:solidFill>
              <a:prstDash val="solid"/>
              <a:round/>
            </a:ln>
          </p:spPr>
        </p:sp>
        <p:sp>
          <p:nvSpPr>
            <p:cNvPr name="TextBox 17" id="17"/>
            <p:cNvSpPr txBox="true"/>
            <p:nvPr/>
          </p:nvSpPr>
          <p:spPr>
            <a:xfrm>
              <a:off x="0" y="-38100"/>
              <a:ext cx="3205104" cy="1228858"/>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2582211" y="3783517"/>
            <a:ext cx="13123577" cy="4714876"/>
          </a:xfrm>
          <a:prstGeom prst="rect">
            <a:avLst/>
          </a:prstGeom>
        </p:spPr>
        <p:txBody>
          <a:bodyPr anchor="t" rtlCol="false" tIns="0" lIns="0" bIns="0" rIns="0">
            <a:spAutoFit/>
          </a:bodyPr>
          <a:lstStyle/>
          <a:p>
            <a:pPr algn="l" marL="971540" indent="-485770" lvl="1">
              <a:lnSpc>
                <a:spcPts val="6299"/>
              </a:lnSpc>
              <a:buFont typeface="Arial"/>
              <a:buChar char="•"/>
            </a:pPr>
            <a:r>
              <a:rPr lang="en-US" sz="4499">
                <a:solidFill>
                  <a:srgbClr val="000000"/>
                </a:solidFill>
                <a:latin typeface="Nunito"/>
                <a:ea typeface="Nunito"/>
                <a:cs typeface="Nunito"/>
                <a:sym typeface="Nunito"/>
              </a:rPr>
              <a:t>Browse digital menu and check availability.</a:t>
            </a:r>
          </a:p>
          <a:p>
            <a:pPr algn="l" marL="971540" indent="-485770" lvl="1">
              <a:lnSpc>
                <a:spcPts val="6299"/>
              </a:lnSpc>
              <a:buFont typeface="Arial"/>
              <a:buChar char="•"/>
            </a:pPr>
            <a:r>
              <a:rPr lang="en-US" sz="4499">
                <a:solidFill>
                  <a:srgbClr val="000000"/>
                </a:solidFill>
                <a:latin typeface="Nunito"/>
                <a:ea typeface="Nunito"/>
                <a:cs typeface="Nunito"/>
                <a:sym typeface="Nunito"/>
              </a:rPr>
              <a:t>Pre-order food in advance to save time.</a:t>
            </a:r>
          </a:p>
          <a:p>
            <a:pPr algn="l" marL="971540" indent="-485770" lvl="1">
              <a:lnSpc>
                <a:spcPts val="6299"/>
              </a:lnSpc>
              <a:buFont typeface="Arial"/>
              <a:buChar char="•"/>
            </a:pPr>
            <a:r>
              <a:rPr lang="en-US" sz="4499">
                <a:solidFill>
                  <a:srgbClr val="000000"/>
                </a:solidFill>
                <a:latin typeface="Nunito"/>
                <a:ea typeface="Nunito"/>
                <a:cs typeface="Nunito"/>
                <a:sym typeface="Nunito"/>
              </a:rPr>
              <a:t>Notifications when order is ready.</a:t>
            </a:r>
          </a:p>
          <a:p>
            <a:pPr algn="l" marL="971540" indent="-485770" lvl="1">
              <a:lnSpc>
                <a:spcPts val="6299"/>
              </a:lnSpc>
              <a:buFont typeface="Arial"/>
              <a:buChar char="•"/>
            </a:pPr>
            <a:r>
              <a:rPr lang="en-US" sz="4499">
                <a:solidFill>
                  <a:srgbClr val="000000"/>
                </a:solidFill>
                <a:latin typeface="Nunito"/>
                <a:ea typeface="Nunito"/>
                <a:cs typeface="Nunito"/>
                <a:sym typeface="Nunito"/>
              </a:rPr>
              <a:t>Secure digital payment options.</a:t>
            </a:r>
          </a:p>
          <a:p>
            <a:pPr algn="l" marL="971540" indent="-485770" lvl="1">
              <a:lnSpc>
                <a:spcPts val="6299"/>
              </a:lnSpc>
              <a:buFont typeface="Arial"/>
              <a:buChar char="•"/>
            </a:pPr>
            <a:r>
              <a:rPr lang="en-US" sz="4499">
                <a:solidFill>
                  <a:srgbClr val="000000"/>
                </a:solidFill>
                <a:latin typeface="Nunito"/>
                <a:ea typeface="Nunito"/>
                <a:cs typeface="Nunito"/>
                <a:sym typeface="Nunito"/>
              </a:rPr>
              <a:t>Easy-to-use interface for all students.</a:t>
            </a:r>
          </a:p>
          <a:p>
            <a:pPr algn="l">
              <a:lnSpc>
                <a:spcPts val="629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446912" y="1287225"/>
            <a:ext cx="15394175" cy="2619365"/>
          </a:xfrm>
          <a:prstGeom prst="rect">
            <a:avLst/>
          </a:prstGeom>
        </p:spPr>
        <p:txBody>
          <a:bodyPr anchor="t" rtlCol="false" tIns="0" lIns="0" bIns="0" rIns="0">
            <a:spAutoFit/>
          </a:bodyPr>
          <a:lstStyle/>
          <a:p>
            <a:pPr algn="ctr">
              <a:lnSpc>
                <a:spcPts val="10500"/>
              </a:lnSpc>
            </a:pPr>
            <a:r>
              <a:rPr lang="en-US" b="true" sz="7500">
                <a:solidFill>
                  <a:srgbClr val="000000"/>
                </a:solidFill>
                <a:latin typeface="Proxima Nova Bold"/>
                <a:ea typeface="Proxima Nova Bold"/>
                <a:cs typeface="Proxima Nova Bold"/>
                <a:sym typeface="Proxima Nova Bold"/>
              </a:rPr>
              <a:t>FEATURES – CANTEEN SIDE</a:t>
            </a:r>
          </a:p>
          <a:p>
            <a:pPr algn="ctr">
              <a:lnSpc>
                <a:spcPts val="10500"/>
              </a:lnSpc>
            </a:pPr>
          </a:p>
        </p:txBody>
      </p:sp>
      <p:sp>
        <p:nvSpPr>
          <p:cNvPr name="TextBox 15" id="15"/>
          <p:cNvSpPr txBox="true"/>
          <p:nvPr/>
        </p:nvSpPr>
        <p:spPr>
          <a:xfrm rot="0">
            <a:off x="2892887" y="3820865"/>
            <a:ext cx="14366413" cy="4714876"/>
          </a:xfrm>
          <a:prstGeom prst="rect">
            <a:avLst/>
          </a:prstGeom>
        </p:spPr>
        <p:txBody>
          <a:bodyPr anchor="t" rtlCol="false" tIns="0" lIns="0" bIns="0" rIns="0">
            <a:spAutoFit/>
          </a:bodyPr>
          <a:lstStyle/>
          <a:p>
            <a:pPr algn="l" marL="971540" indent="-485770" lvl="1">
              <a:lnSpc>
                <a:spcPts val="6299"/>
              </a:lnSpc>
              <a:buFont typeface="Arial"/>
              <a:buChar char="•"/>
            </a:pPr>
            <a:r>
              <a:rPr lang="en-US" sz="4499">
                <a:solidFill>
                  <a:srgbClr val="000000"/>
                </a:solidFill>
                <a:latin typeface="Nunito"/>
                <a:ea typeface="Nunito"/>
                <a:cs typeface="Nunito"/>
                <a:sym typeface="Nunito"/>
              </a:rPr>
              <a:t>Real-time order monitoring.</a:t>
            </a:r>
          </a:p>
          <a:p>
            <a:pPr algn="l" marL="971540" indent="-485770" lvl="1">
              <a:lnSpc>
                <a:spcPts val="6299"/>
              </a:lnSpc>
              <a:buFont typeface="Arial"/>
              <a:buChar char="•"/>
            </a:pPr>
            <a:r>
              <a:rPr lang="en-US" sz="4499">
                <a:solidFill>
                  <a:srgbClr val="000000"/>
                </a:solidFill>
                <a:latin typeface="Nunito"/>
                <a:ea typeface="Nunito"/>
                <a:cs typeface="Nunito"/>
                <a:sym typeface="Nunito"/>
              </a:rPr>
              <a:t>Queue management for efficient service.</a:t>
            </a:r>
          </a:p>
          <a:p>
            <a:pPr algn="l" marL="971540" indent="-485770" lvl="1">
              <a:lnSpc>
                <a:spcPts val="6299"/>
              </a:lnSpc>
              <a:buFont typeface="Arial"/>
              <a:buChar char="•"/>
            </a:pPr>
            <a:r>
              <a:rPr lang="en-US" sz="4499">
                <a:solidFill>
                  <a:srgbClr val="000000"/>
                </a:solidFill>
                <a:latin typeface="Nunito"/>
                <a:ea typeface="Nunito"/>
                <a:cs typeface="Nunito"/>
                <a:sym typeface="Nunito"/>
              </a:rPr>
              <a:t>Track stock and inventory levels.</a:t>
            </a:r>
          </a:p>
          <a:p>
            <a:pPr algn="l" marL="971540" indent="-485770" lvl="1">
              <a:lnSpc>
                <a:spcPts val="6299"/>
              </a:lnSpc>
              <a:buFont typeface="Arial"/>
              <a:buChar char="•"/>
            </a:pPr>
            <a:r>
              <a:rPr lang="en-US" sz="4499">
                <a:solidFill>
                  <a:srgbClr val="000000"/>
                </a:solidFill>
                <a:latin typeface="Nunito"/>
                <a:ea typeface="Nunito"/>
                <a:cs typeface="Nunito"/>
                <a:sym typeface="Nunito"/>
              </a:rPr>
              <a:t>Analytics for peak hours and popular items.</a:t>
            </a:r>
          </a:p>
          <a:p>
            <a:pPr algn="l" marL="971540" indent="-485770" lvl="1">
              <a:lnSpc>
                <a:spcPts val="6299"/>
              </a:lnSpc>
              <a:buFont typeface="Arial"/>
              <a:buChar char="•"/>
            </a:pPr>
            <a:r>
              <a:rPr lang="en-US" sz="4499">
                <a:solidFill>
                  <a:srgbClr val="000000"/>
                </a:solidFill>
                <a:latin typeface="Nunito"/>
                <a:ea typeface="Nunito"/>
                <a:cs typeface="Nunito"/>
                <a:sym typeface="Nunito"/>
              </a:rPr>
              <a:t>Reduce errors and mismanagement.</a:t>
            </a:r>
          </a:p>
          <a:p>
            <a:pPr algn="l">
              <a:lnSpc>
                <a:spcPts val="6299"/>
              </a:lnSpc>
            </a:pPr>
          </a:p>
        </p:txBody>
      </p:sp>
      <p:grpSp>
        <p:nvGrpSpPr>
          <p:cNvPr name="Group 16" id="16"/>
          <p:cNvGrpSpPr/>
          <p:nvPr/>
        </p:nvGrpSpPr>
        <p:grpSpPr>
          <a:xfrm rot="0">
            <a:off x="3035717" y="3760327"/>
            <a:ext cx="12216567" cy="4208706"/>
            <a:chOff x="0" y="0"/>
            <a:chExt cx="3217532" cy="1108466"/>
          </a:xfrm>
        </p:grpSpPr>
        <p:sp>
          <p:nvSpPr>
            <p:cNvPr name="Freeform 17" id="17"/>
            <p:cNvSpPr/>
            <p:nvPr/>
          </p:nvSpPr>
          <p:spPr>
            <a:xfrm flipH="false" flipV="false" rot="0">
              <a:off x="0" y="0"/>
              <a:ext cx="3217532" cy="1108466"/>
            </a:xfrm>
            <a:custGeom>
              <a:avLst/>
              <a:gdLst/>
              <a:ahLst/>
              <a:cxnLst/>
              <a:rect r="r" b="b" t="t" l="l"/>
              <a:pathLst>
                <a:path h="1108466" w="3217532">
                  <a:moveTo>
                    <a:pt x="32320" y="0"/>
                  </a:moveTo>
                  <a:lnTo>
                    <a:pt x="3185212" y="0"/>
                  </a:lnTo>
                  <a:cubicBezTo>
                    <a:pt x="3203062" y="0"/>
                    <a:pt x="3217532" y="14470"/>
                    <a:pt x="3217532" y="32320"/>
                  </a:cubicBezTo>
                  <a:lnTo>
                    <a:pt x="3217532" y="1076146"/>
                  </a:lnTo>
                  <a:cubicBezTo>
                    <a:pt x="3217532" y="1084718"/>
                    <a:pt x="3214127" y="1092938"/>
                    <a:pt x="3208066" y="1098999"/>
                  </a:cubicBezTo>
                  <a:cubicBezTo>
                    <a:pt x="3202005" y="1105061"/>
                    <a:pt x="3193784" y="1108466"/>
                    <a:pt x="3185212" y="1108466"/>
                  </a:cubicBezTo>
                  <a:lnTo>
                    <a:pt x="32320" y="1108466"/>
                  </a:lnTo>
                  <a:cubicBezTo>
                    <a:pt x="23748" y="1108466"/>
                    <a:pt x="15527" y="1105061"/>
                    <a:pt x="9466" y="1098999"/>
                  </a:cubicBezTo>
                  <a:cubicBezTo>
                    <a:pt x="3405" y="1092938"/>
                    <a:pt x="0" y="1084718"/>
                    <a:pt x="0" y="1076146"/>
                  </a:cubicBezTo>
                  <a:lnTo>
                    <a:pt x="0" y="32320"/>
                  </a:lnTo>
                  <a:cubicBezTo>
                    <a:pt x="0" y="23748"/>
                    <a:pt x="3405" y="15527"/>
                    <a:pt x="9466" y="9466"/>
                  </a:cubicBezTo>
                  <a:cubicBezTo>
                    <a:pt x="15527" y="3405"/>
                    <a:pt x="23748" y="0"/>
                    <a:pt x="32320" y="0"/>
                  </a:cubicBezTo>
                  <a:close/>
                </a:path>
              </a:pathLst>
            </a:custGeom>
            <a:solidFill>
              <a:srgbClr val="000000">
                <a:alpha val="0"/>
              </a:srgbClr>
            </a:solidFill>
            <a:ln w="38100" cap="rnd">
              <a:solidFill>
                <a:srgbClr val="000000"/>
              </a:solidFill>
              <a:prstDash val="solid"/>
              <a:round/>
            </a:ln>
          </p:spPr>
        </p:sp>
        <p:sp>
          <p:nvSpPr>
            <p:cNvPr name="TextBox 18" id="18"/>
            <p:cNvSpPr txBox="true"/>
            <p:nvPr/>
          </p:nvSpPr>
          <p:spPr>
            <a:xfrm>
              <a:off x="0" y="-38100"/>
              <a:ext cx="3217532" cy="1146566"/>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800380" y="1394867"/>
            <a:ext cx="14687240" cy="1377944"/>
          </a:xfrm>
          <a:prstGeom prst="rect">
            <a:avLst/>
          </a:prstGeom>
        </p:spPr>
        <p:txBody>
          <a:bodyPr anchor="t" rtlCol="false" tIns="0" lIns="0" bIns="0" rIns="0">
            <a:spAutoFit/>
          </a:bodyPr>
          <a:lstStyle/>
          <a:p>
            <a:pPr algn="ctr">
              <a:lnSpc>
                <a:spcPts val="11200"/>
              </a:lnSpc>
            </a:pPr>
            <a:r>
              <a:rPr lang="en-US" b="true" sz="8000">
                <a:solidFill>
                  <a:srgbClr val="000000"/>
                </a:solidFill>
                <a:latin typeface="Proxima Nova Bold"/>
                <a:ea typeface="Proxima Nova Bold"/>
                <a:cs typeface="Proxima Nova Bold"/>
                <a:sym typeface="Proxima Nova Bold"/>
              </a:rPr>
              <a:t>SYSTEM ARCHITECTURE</a:t>
            </a:r>
          </a:p>
        </p:txBody>
      </p:sp>
      <p:sp>
        <p:nvSpPr>
          <p:cNvPr name="TextBox 15" id="15"/>
          <p:cNvSpPr txBox="true"/>
          <p:nvPr/>
        </p:nvSpPr>
        <p:spPr>
          <a:xfrm rot="0">
            <a:off x="1028700" y="3666908"/>
            <a:ext cx="16230600" cy="4302126"/>
          </a:xfrm>
          <a:prstGeom prst="rect">
            <a:avLst/>
          </a:prstGeom>
        </p:spPr>
        <p:txBody>
          <a:bodyPr anchor="t" rtlCol="false" tIns="0" lIns="0" bIns="0" rIns="0">
            <a:spAutoFit/>
          </a:bodyPr>
          <a:lstStyle/>
          <a:p>
            <a:pPr algn="ctr">
              <a:lnSpc>
                <a:spcPts val="4899"/>
              </a:lnSpc>
            </a:pPr>
            <a:r>
              <a:rPr lang="en-US" sz="3499">
                <a:solidFill>
                  <a:srgbClr val="000000"/>
                </a:solidFill>
                <a:latin typeface="Nunito"/>
                <a:ea typeface="Nunito"/>
                <a:cs typeface="Nunito"/>
                <a:sym typeface="Nunito"/>
              </a:rPr>
              <a:t>Foodzy’s architecture integrates a frontend, backend, database, and notification system. Students place orders through the app or website, which are processed by the backend server and stored in the database. Staff can view, manage, and update order status in real-time. Notifications are sent to students when orders are ready, ensuring seamless communication. The architecture is scalable, secure, and designed for efficient data flow, providing a smooth experience for both students and staff.</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364747" y="1230454"/>
            <a:ext cx="9558507"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WORKFLOW</a:t>
            </a:r>
          </a:p>
        </p:txBody>
      </p:sp>
      <p:sp>
        <p:nvSpPr>
          <p:cNvPr name="TextBox 15" id="15"/>
          <p:cNvSpPr txBox="true"/>
          <p:nvPr/>
        </p:nvSpPr>
        <p:spPr>
          <a:xfrm rot="0">
            <a:off x="2252381" y="3533051"/>
            <a:ext cx="13783238" cy="4899026"/>
          </a:xfrm>
          <a:prstGeom prst="rect">
            <a:avLst/>
          </a:prstGeom>
        </p:spPr>
        <p:txBody>
          <a:bodyPr anchor="t" rtlCol="false" tIns="0" lIns="0" bIns="0" rIns="0">
            <a:spAutoFit/>
          </a:bodyPr>
          <a:lstStyle/>
          <a:p>
            <a:pPr algn="just" marL="863593" indent="-431796" lvl="1">
              <a:lnSpc>
                <a:spcPts val="5599"/>
              </a:lnSpc>
              <a:buFont typeface="Arial"/>
              <a:buChar char="•"/>
            </a:pPr>
            <a:r>
              <a:rPr lang="en-US" sz="3999">
                <a:solidFill>
                  <a:srgbClr val="000000"/>
                </a:solidFill>
                <a:latin typeface="Nunito"/>
                <a:ea typeface="Nunito"/>
                <a:cs typeface="Nunito"/>
                <a:sym typeface="Nunito"/>
              </a:rPr>
              <a:t>Student logs in and views menu.</a:t>
            </a:r>
          </a:p>
          <a:p>
            <a:pPr algn="just" marL="863593" indent="-431796" lvl="1">
              <a:lnSpc>
                <a:spcPts val="5599"/>
              </a:lnSpc>
              <a:buFont typeface="Arial"/>
              <a:buChar char="•"/>
            </a:pPr>
            <a:r>
              <a:rPr lang="en-US" sz="3999">
                <a:solidFill>
                  <a:srgbClr val="000000"/>
                </a:solidFill>
                <a:latin typeface="Nunito"/>
                <a:ea typeface="Nunito"/>
                <a:cs typeface="Nunito"/>
                <a:sym typeface="Nunito"/>
              </a:rPr>
              <a:t>Places order with selected items.</a:t>
            </a:r>
          </a:p>
          <a:p>
            <a:pPr algn="just" marL="863593" indent="-431796" lvl="1">
              <a:lnSpc>
                <a:spcPts val="5599"/>
              </a:lnSpc>
              <a:buFont typeface="Arial"/>
              <a:buChar char="•"/>
            </a:pPr>
            <a:r>
              <a:rPr lang="en-US" sz="3999">
                <a:solidFill>
                  <a:srgbClr val="000000"/>
                </a:solidFill>
                <a:latin typeface="Nunito"/>
                <a:ea typeface="Nunito"/>
                <a:cs typeface="Nunito"/>
                <a:sym typeface="Nunito"/>
              </a:rPr>
              <a:t>Order sent to canteen system in real-time.</a:t>
            </a:r>
          </a:p>
          <a:p>
            <a:pPr algn="just" marL="863593" indent="-431796" lvl="1">
              <a:lnSpc>
                <a:spcPts val="5599"/>
              </a:lnSpc>
              <a:buFont typeface="Arial"/>
              <a:buChar char="•"/>
            </a:pPr>
            <a:r>
              <a:rPr lang="en-US" sz="3999">
                <a:solidFill>
                  <a:srgbClr val="000000"/>
                </a:solidFill>
                <a:latin typeface="Nunito"/>
                <a:ea typeface="Nunito"/>
                <a:cs typeface="Nunito"/>
                <a:sym typeface="Nunito"/>
              </a:rPr>
              <a:t>Staff prepares order according to priority.</a:t>
            </a:r>
          </a:p>
          <a:p>
            <a:pPr algn="just" marL="863593" indent="-431796" lvl="1">
              <a:lnSpc>
                <a:spcPts val="5599"/>
              </a:lnSpc>
              <a:buFont typeface="Arial"/>
              <a:buChar char="•"/>
            </a:pPr>
            <a:r>
              <a:rPr lang="en-US" sz="3999">
                <a:solidFill>
                  <a:srgbClr val="000000"/>
                </a:solidFill>
                <a:latin typeface="Nunito"/>
                <a:ea typeface="Nunito"/>
                <a:cs typeface="Nunito"/>
                <a:sym typeface="Nunito"/>
              </a:rPr>
              <a:t>Notification sent to student when order is ready.</a:t>
            </a:r>
          </a:p>
          <a:p>
            <a:pPr algn="just" marL="863593" indent="-431796" lvl="1">
              <a:lnSpc>
                <a:spcPts val="5599"/>
              </a:lnSpc>
              <a:buFont typeface="Arial"/>
              <a:buChar char="•"/>
            </a:pPr>
            <a:r>
              <a:rPr lang="en-US" sz="3999">
                <a:solidFill>
                  <a:srgbClr val="000000"/>
                </a:solidFill>
                <a:latin typeface="Nunito"/>
                <a:ea typeface="Nunito"/>
                <a:cs typeface="Nunito"/>
                <a:sym typeface="Nunito"/>
              </a:rPr>
              <a:t>Student collects order without waiting in queue.</a:t>
            </a:r>
          </a:p>
          <a:p>
            <a:pPr algn="just">
              <a:lnSpc>
                <a:spcPts val="559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3895175" y="1861036"/>
            <a:ext cx="10497650" cy="7250727"/>
          </a:xfrm>
          <a:custGeom>
            <a:avLst/>
            <a:gdLst/>
            <a:ahLst/>
            <a:cxnLst/>
            <a:rect r="r" b="b" t="t" l="l"/>
            <a:pathLst>
              <a:path h="7250727" w="10497650">
                <a:moveTo>
                  <a:pt x="0" y="0"/>
                </a:moveTo>
                <a:lnTo>
                  <a:pt x="10497650" y="0"/>
                </a:lnTo>
                <a:lnTo>
                  <a:pt x="10497650" y="7250728"/>
                </a:lnTo>
                <a:lnTo>
                  <a:pt x="0" y="7250728"/>
                </a:lnTo>
                <a:lnTo>
                  <a:pt x="0" y="0"/>
                </a:lnTo>
                <a:close/>
              </a:path>
            </a:pathLst>
          </a:custGeom>
          <a:blipFill>
            <a:blip r:embed="rId4"/>
            <a:stretch>
              <a:fillRect l="0" t="-116" r="0" b="-116"/>
            </a:stretch>
          </a:blipFill>
        </p:spPr>
      </p:sp>
      <p:sp>
        <p:nvSpPr>
          <p:cNvPr name="TextBox 15" id="15"/>
          <p:cNvSpPr txBox="true"/>
          <p:nvPr/>
        </p:nvSpPr>
        <p:spPr>
          <a:xfrm rot="0">
            <a:off x="4364747" y="171450"/>
            <a:ext cx="9558507"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ER DIAGRAM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2289811" y="3551250"/>
            <a:ext cx="13708378" cy="4929304"/>
          </a:xfrm>
          <a:custGeom>
            <a:avLst/>
            <a:gdLst/>
            <a:ahLst/>
            <a:cxnLst/>
            <a:rect r="r" b="b" t="t" l="l"/>
            <a:pathLst>
              <a:path h="4929304" w="13708378">
                <a:moveTo>
                  <a:pt x="0" y="0"/>
                </a:moveTo>
                <a:lnTo>
                  <a:pt x="13708378" y="0"/>
                </a:lnTo>
                <a:lnTo>
                  <a:pt x="13708378" y="4929304"/>
                </a:lnTo>
                <a:lnTo>
                  <a:pt x="0" y="4929304"/>
                </a:lnTo>
                <a:lnTo>
                  <a:pt x="0" y="0"/>
                </a:lnTo>
                <a:close/>
              </a:path>
            </a:pathLst>
          </a:custGeom>
          <a:blipFill>
            <a:blip r:embed="rId4"/>
            <a:stretch>
              <a:fillRect l="0" t="0" r="0" b="0"/>
            </a:stretch>
          </a:blipFill>
        </p:spPr>
      </p:sp>
      <p:sp>
        <p:nvSpPr>
          <p:cNvPr name="TextBox 15" id="15"/>
          <p:cNvSpPr txBox="true"/>
          <p:nvPr/>
        </p:nvSpPr>
        <p:spPr>
          <a:xfrm rot="0">
            <a:off x="2182373" y="1230454"/>
            <a:ext cx="13923253"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SCHEMA DIAGRAM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82373" y="1230454"/>
            <a:ext cx="13923253"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TECH STACK</a:t>
            </a:r>
          </a:p>
        </p:txBody>
      </p:sp>
      <p:sp>
        <p:nvSpPr>
          <p:cNvPr name="TextBox 15" id="15"/>
          <p:cNvSpPr txBox="true"/>
          <p:nvPr/>
        </p:nvSpPr>
        <p:spPr>
          <a:xfrm rot="0">
            <a:off x="2669242" y="3769588"/>
            <a:ext cx="12949516" cy="4397377"/>
          </a:xfrm>
          <a:prstGeom prst="rect">
            <a:avLst/>
          </a:prstGeom>
        </p:spPr>
        <p:txBody>
          <a:bodyPr anchor="t" rtlCol="false" tIns="0" lIns="0" bIns="0" rIns="0">
            <a:spAutoFit/>
          </a:bodyPr>
          <a:lstStyle/>
          <a:p>
            <a:pPr algn="just" marL="1079483" indent="-539741" lvl="1">
              <a:lnSpc>
                <a:spcPts val="6999"/>
              </a:lnSpc>
              <a:spcBef>
                <a:spcPct val="0"/>
              </a:spcBef>
              <a:buFont typeface="Arial"/>
              <a:buChar char="•"/>
            </a:pPr>
            <a:r>
              <a:rPr lang="en-US" sz="4999">
                <a:solidFill>
                  <a:srgbClr val="000000"/>
                </a:solidFill>
                <a:latin typeface="Open Sans"/>
                <a:ea typeface="Open Sans"/>
                <a:cs typeface="Open Sans"/>
                <a:sym typeface="Open Sans"/>
              </a:rPr>
              <a:t>Fr</a:t>
            </a:r>
            <a:r>
              <a:rPr lang="en-US" sz="4999">
                <a:solidFill>
                  <a:srgbClr val="000000"/>
                </a:solidFill>
                <a:latin typeface="Open Sans"/>
                <a:ea typeface="Open Sans"/>
                <a:cs typeface="Open Sans"/>
                <a:sym typeface="Open Sans"/>
              </a:rPr>
              <a:t>ontend: React / HTML / CSS.</a:t>
            </a:r>
          </a:p>
          <a:p>
            <a:pPr algn="just" marL="1079483" indent="-539741" lvl="1">
              <a:lnSpc>
                <a:spcPts val="6999"/>
              </a:lnSpc>
              <a:spcBef>
                <a:spcPct val="0"/>
              </a:spcBef>
              <a:buFont typeface="Arial"/>
              <a:buChar char="•"/>
            </a:pPr>
            <a:r>
              <a:rPr lang="en-US" sz="4999">
                <a:solidFill>
                  <a:srgbClr val="000000"/>
                </a:solidFill>
                <a:latin typeface="Open Sans"/>
                <a:ea typeface="Open Sans"/>
                <a:cs typeface="Open Sans"/>
                <a:sym typeface="Open Sans"/>
              </a:rPr>
              <a:t>Backend: Python / Node.js.</a:t>
            </a:r>
          </a:p>
          <a:p>
            <a:pPr algn="just" marL="1079483" indent="-539741" lvl="1">
              <a:lnSpc>
                <a:spcPts val="6999"/>
              </a:lnSpc>
              <a:spcBef>
                <a:spcPct val="0"/>
              </a:spcBef>
              <a:buFont typeface="Arial"/>
              <a:buChar char="•"/>
            </a:pPr>
            <a:r>
              <a:rPr lang="en-US" sz="4999">
                <a:solidFill>
                  <a:srgbClr val="000000"/>
                </a:solidFill>
                <a:latin typeface="Open Sans"/>
                <a:ea typeface="Open Sans"/>
                <a:cs typeface="Open Sans"/>
                <a:sym typeface="Open Sans"/>
              </a:rPr>
              <a:t>Database: MySQL / PostgreSQL.</a:t>
            </a:r>
          </a:p>
          <a:p>
            <a:pPr algn="just" marL="1079483" indent="-539741" lvl="1">
              <a:lnSpc>
                <a:spcPts val="6999"/>
              </a:lnSpc>
              <a:spcBef>
                <a:spcPct val="0"/>
              </a:spcBef>
              <a:buFont typeface="Arial"/>
              <a:buChar char="•"/>
            </a:pPr>
            <a:r>
              <a:rPr lang="en-US" sz="4999">
                <a:solidFill>
                  <a:srgbClr val="000000"/>
                </a:solidFill>
                <a:latin typeface="Open Sans"/>
                <a:ea typeface="Open Sans"/>
                <a:cs typeface="Open Sans"/>
                <a:sym typeface="Open Sans"/>
              </a:rPr>
              <a:t>Secure, scalable, and reliable design.</a:t>
            </a:r>
          </a:p>
          <a:p>
            <a:pPr algn="just">
              <a:lnSpc>
                <a:spcPts val="699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82373" y="1317769"/>
            <a:ext cx="13923253" cy="1377944"/>
          </a:xfrm>
          <a:prstGeom prst="rect">
            <a:avLst/>
          </a:prstGeom>
        </p:spPr>
        <p:txBody>
          <a:bodyPr anchor="t" rtlCol="false" tIns="0" lIns="0" bIns="0" rIns="0">
            <a:spAutoFit/>
          </a:bodyPr>
          <a:lstStyle/>
          <a:p>
            <a:pPr algn="ctr">
              <a:lnSpc>
                <a:spcPts val="11200"/>
              </a:lnSpc>
            </a:pPr>
            <a:r>
              <a:rPr lang="en-US" b="true" sz="8000">
                <a:solidFill>
                  <a:srgbClr val="000000"/>
                </a:solidFill>
                <a:latin typeface="Proxima Nova Bold"/>
                <a:ea typeface="Proxima Nova Bold"/>
                <a:cs typeface="Proxima Nova Bold"/>
                <a:sym typeface="Proxima Nova Bold"/>
              </a:rPr>
              <a:t>BENEFITS – STUDENTS</a:t>
            </a:r>
          </a:p>
        </p:txBody>
      </p:sp>
      <p:sp>
        <p:nvSpPr>
          <p:cNvPr name="TextBox 15" id="15"/>
          <p:cNvSpPr txBox="true"/>
          <p:nvPr/>
        </p:nvSpPr>
        <p:spPr>
          <a:xfrm rot="0">
            <a:off x="2669242" y="3851574"/>
            <a:ext cx="12949516" cy="4705352"/>
          </a:xfrm>
          <a:prstGeom prst="rect">
            <a:avLst/>
          </a:prstGeom>
        </p:spPr>
        <p:txBody>
          <a:bodyPr anchor="t" rtlCol="false" tIns="0" lIns="0" bIns="0" rIns="0">
            <a:spAutoFit/>
          </a:bodyPr>
          <a:lstStyle/>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Save </a:t>
            </a:r>
            <a:r>
              <a:rPr lang="en-US" sz="4499">
                <a:solidFill>
                  <a:srgbClr val="000000"/>
                </a:solidFill>
                <a:latin typeface="Open Sans"/>
                <a:ea typeface="Open Sans"/>
                <a:cs typeface="Open Sans"/>
                <a:sym typeface="Open Sans"/>
              </a:rPr>
              <a:t>time and avoid queues.</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Conv</a:t>
            </a:r>
            <a:r>
              <a:rPr lang="en-US" sz="4499">
                <a:solidFill>
                  <a:srgbClr val="000000"/>
                </a:solidFill>
                <a:latin typeface="Open Sans"/>
                <a:ea typeface="Open Sans"/>
                <a:cs typeface="Open Sans"/>
                <a:sym typeface="Open Sans"/>
              </a:rPr>
              <a:t>enient pre-ordering and payment.</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Accur</a:t>
            </a:r>
            <a:r>
              <a:rPr lang="en-US" sz="4499">
                <a:solidFill>
                  <a:srgbClr val="000000"/>
                </a:solidFill>
                <a:latin typeface="Open Sans"/>
                <a:ea typeface="Open Sans"/>
                <a:cs typeface="Open Sans"/>
                <a:sym typeface="Open Sans"/>
              </a:rPr>
              <a:t>ate and timely order delivery.</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Bett</a:t>
            </a:r>
            <a:r>
              <a:rPr lang="en-US" sz="4499">
                <a:solidFill>
                  <a:srgbClr val="000000"/>
                </a:solidFill>
                <a:latin typeface="Open Sans"/>
                <a:ea typeface="Open Sans"/>
                <a:cs typeface="Open Sans"/>
                <a:sym typeface="Open Sans"/>
              </a:rPr>
              <a:t>er meal planning during peak hours.</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Enhanced dining experience.</a:t>
            </a:r>
          </a:p>
          <a:p>
            <a:pPr algn="just">
              <a:lnSpc>
                <a:spcPts val="629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82373" y="1373334"/>
            <a:ext cx="13923253" cy="1285865"/>
          </a:xfrm>
          <a:prstGeom prst="rect">
            <a:avLst/>
          </a:prstGeom>
        </p:spPr>
        <p:txBody>
          <a:bodyPr anchor="t" rtlCol="false" tIns="0" lIns="0" bIns="0" rIns="0">
            <a:spAutoFit/>
          </a:bodyPr>
          <a:lstStyle/>
          <a:p>
            <a:pPr algn="ctr">
              <a:lnSpc>
                <a:spcPts val="10500"/>
              </a:lnSpc>
            </a:pPr>
            <a:r>
              <a:rPr lang="en-US" b="true" sz="7500">
                <a:solidFill>
                  <a:srgbClr val="000000"/>
                </a:solidFill>
                <a:latin typeface="Proxima Nova Bold"/>
                <a:ea typeface="Proxima Nova Bold"/>
                <a:cs typeface="Proxima Nova Bold"/>
                <a:sym typeface="Proxima Nova Bold"/>
              </a:rPr>
              <a:t>BENEFITS – CANTEEN STAFF</a:t>
            </a:r>
          </a:p>
        </p:txBody>
      </p:sp>
      <p:sp>
        <p:nvSpPr>
          <p:cNvPr name="TextBox 15" id="15"/>
          <p:cNvSpPr txBox="true"/>
          <p:nvPr/>
        </p:nvSpPr>
        <p:spPr>
          <a:xfrm rot="0">
            <a:off x="1848971" y="3666293"/>
            <a:ext cx="14590058" cy="4705352"/>
          </a:xfrm>
          <a:prstGeom prst="rect">
            <a:avLst/>
          </a:prstGeom>
        </p:spPr>
        <p:txBody>
          <a:bodyPr anchor="t" rtlCol="false" tIns="0" lIns="0" bIns="0" rIns="0">
            <a:spAutoFit/>
          </a:bodyPr>
          <a:lstStyle/>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Organized workflow</a:t>
            </a:r>
            <a:r>
              <a:rPr lang="en-US" sz="4499">
                <a:solidFill>
                  <a:srgbClr val="000000"/>
                </a:solidFill>
                <a:latin typeface="Open Sans"/>
                <a:ea typeface="Open Sans"/>
                <a:cs typeface="Open Sans"/>
                <a:sym typeface="Open Sans"/>
              </a:rPr>
              <a:t> and reduced errors.</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R</a:t>
            </a:r>
            <a:r>
              <a:rPr lang="en-US" sz="4499">
                <a:solidFill>
                  <a:srgbClr val="000000"/>
                </a:solidFill>
                <a:latin typeface="Open Sans"/>
                <a:ea typeface="Open Sans"/>
                <a:cs typeface="Open Sans"/>
                <a:sym typeface="Open Sans"/>
              </a:rPr>
              <a:t>eal-time queue management.</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An</a:t>
            </a:r>
            <a:r>
              <a:rPr lang="en-US" sz="4499">
                <a:solidFill>
                  <a:srgbClr val="000000"/>
                </a:solidFill>
                <a:latin typeface="Open Sans"/>
                <a:ea typeface="Open Sans"/>
                <a:cs typeface="Open Sans"/>
                <a:sym typeface="Open Sans"/>
              </a:rPr>
              <a:t>alytics for inventory and peak-hour planning.</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Improved operational efficiency.</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Better coordination among staff.</a:t>
            </a:r>
          </a:p>
          <a:p>
            <a:pPr algn="just">
              <a:lnSpc>
                <a:spcPts val="629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82373" y="1373334"/>
            <a:ext cx="13923253" cy="1285865"/>
          </a:xfrm>
          <a:prstGeom prst="rect">
            <a:avLst/>
          </a:prstGeom>
        </p:spPr>
        <p:txBody>
          <a:bodyPr anchor="t" rtlCol="false" tIns="0" lIns="0" bIns="0" rIns="0">
            <a:spAutoFit/>
          </a:bodyPr>
          <a:lstStyle/>
          <a:p>
            <a:pPr algn="ctr">
              <a:lnSpc>
                <a:spcPts val="10500"/>
              </a:lnSpc>
            </a:pPr>
            <a:r>
              <a:rPr lang="en-US" b="true" sz="7500">
                <a:solidFill>
                  <a:srgbClr val="000000"/>
                </a:solidFill>
                <a:latin typeface="Proxima Nova Bold"/>
                <a:ea typeface="Proxima Nova Bold"/>
                <a:cs typeface="Proxima Nova Bold"/>
                <a:sym typeface="Proxima Nova Bold"/>
              </a:rPr>
              <a:t>DATA ANALYTICS</a:t>
            </a:r>
          </a:p>
        </p:txBody>
      </p:sp>
      <p:sp>
        <p:nvSpPr>
          <p:cNvPr name="TextBox 15" id="15"/>
          <p:cNvSpPr txBox="true"/>
          <p:nvPr/>
        </p:nvSpPr>
        <p:spPr>
          <a:xfrm rot="0">
            <a:off x="1028700" y="3666293"/>
            <a:ext cx="16230600" cy="4203701"/>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Open Sans"/>
                <a:ea typeface="Open Sans"/>
                <a:cs typeface="Open Sans"/>
                <a:sym typeface="Open Sans"/>
              </a:rPr>
              <a:t>Foodzy collects valuable</a:t>
            </a:r>
            <a:r>
              <a:rPr lang="en-US" sz="3999">
                <a:solidFill>
                  <a:srgbClr val="000000"/>
                </a:solidFill>
                <a:latin typeface="Open Sans"/>
                <a:ea typeface="Open Sans"/>
                <a:cs typeface="Open Sans"/>
                <a:sym typeface="Open Sans"/>
              </a:rPr>
              <a:t> data on orders, peak hours, and popular menu items, providing actionable insights. These a</a:t>
            </a:r>
            <a:r>
              <a:rPr lang="en-US" sz="3999">
                <a:solidFill>
                  <a:srgbClr val="000000"/>
                </a:solidFill>
                <a:latin typeface="Open Sans"/>
                <a:ea typeface="Open Sans"/>
                <a:cs typeface="Open Sans"/>
                <a:sym typeface="Open Sans"/>
              </a:rPr>
              <a:t>n</a:t>
            </a:r>
            <a:r>
              <a:rPr lang="en-US" sz="3999">
                <a:solidFill>
                  <a:srgbClr val="000000"/>
                </a:solidFill>
                <a:latin typeface="Open Sans"/>
                <a:ea typeface="Open Sans"/>
                <a:cs typeface="Open Sans"/>
                <a:sym typeface="Open Sans"/>
              </a:rPr>
              <a:t>alytics help canteen staff optimize preparation schedules, manage inventory efficiently, and plan staffing for busy hours. The insights can also be used to improve menu offerings based on student preferences, enhancing satisfaction and reducing waste.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82373" y="1373334"/>
            <a:ext cx="13923253" cy="1285865"/>
          </a:xfrm>
          <a:prstGeom prst="rect">
            <a:avLst/>
          </a:prstGeom>
        </p:spPr>
        <p:txBody>
          <a:bodyPr anchor="t" rtlCol="false" tIns="0" lIns="0" bIns="0" rIns="0">
            <a:spAutoFit/>
          </a:bodyPr>
          <a:lstStyle/>
          <a:p>
            <a:pPr algn="ctr">
              <a:lnSpc>
                <a:spcPts val="10500"/>
              </a:lnSpc>
            </a:pPr>
            <a:r>
              <a:rPr lang="en-US" b="true" sz="7500">
                <a:solidFill>
                  <a:srgbClr val="000000"/>
                </a:solidFill>
                <a:latin typeface="Proxima Nova Bold"/>
                <a:ea typeface="Proxima Nova Bold"/>
                <a:cs typeface="Proxima Nova Bold"/>
                <a:sym typeface="Proxima Nova Bold"/>
              </a:rPr>
              <a:t>CHALLENGES</a:t>
            </a:r>
          </a:p>
        </p:txBody>
      </p:sp>
      <p:sp>
        <p:nvSpPr>
          <p:cNvPr name="TextBox 15" id="15"/>
          <p:cNvSpPr txBox="true"/>
          <p:nvPr/>
        </p:nvSpPr>
        <p:spPr>
          <a:xfrm rot="0">
            <a:off x="1158983" y="3666293"/>
            <a:ext cx="15970033" cy="4908551"/>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Open Sans"/>
                <a:ea typeface="Open Sans"/>
                <a:cs typeface="Open Sans"/>
                <a:sym typeface="Open Sans"/>
              </a:rPr>
              <a:t>Despite its a</a:t>
            </a:r>
            <a:r>
              <a:rPr lang="en-US" sz="3999">
                <a:solidFill>
                  <a:srgbClr val="000000"/>
                </a:solidFill>
                <a:latin typeface="Open Sans"/>
                <a:ea typeface="Open Sans"/>
                <a:cs typeface="Open Sans"/>
                <a:sym typeface="Open Sans"/>
              </a:rPr>
              <a:t>dvantages, Foodzy faces some challenges. The system relies on internet connectivity, and some students or staff may require time to adapt to the platform. Initial setup involves hardware configuration and staff training. Offline functionality is limited, which may affect usability during network issues. Addressing these challenges is essential for smooth implementation and adoption.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82373" y="1373334"/>
            <a:ext cx="13923253" cy="1285865"/>
          </a:xfrm>
          <a:prstGeom prst="rect">
            <a:avLst/>
          </a:prstGeom>
        </p:spPr>
        <p:txBody>
          <a:bodyPr anchor="t" rtlCol="false" tIns="0" lIns="0" bIns="0" rIns="0">
            <a:spAutoFit/>
          </a:bodyPr>
          <a:lstStyle/>
          <a:p>
            <a:pPr algn="ctr">
              <a:lnSpc>
                <a:spcPts val="10500"/>
              </a:lnSpc>
            </a:pPr>
            <a:r>
              <a:rPr lang="en-US" b="true" sz="7500">
                <a:solidFill>
                  <a:srgbClr val="000000"/>
                </a:solidFill>
                <a:latin typeface="Proxima Nova Bold"/>
                <a:ea typeface="Proxima Nova Bold"/>
                <a:cs typeface="Proxima Nova Bold"/>
                <a:sym typeface="Proxima Nova Bold"/>
              </a:rPr>
              <a:t>FUTURE SCOPE</a:t>
            </a:r>
          </a:p>
        </p:txBody>
      </p:sp>
      <p:sp>
        <p:nvSpPr>
          <p:cNvPr name="TextBox 15" id="15"/>
          <p:cNvSpPr txBox="true"/>
          <p:nvPr/>
        </p:nvSpPr>
        <p:spPr>
          <a:xfrm rot="0">
            <a:off x="1158983" y="3739535"/>
            <a:ext cx="15970033" cy="4705352"/>
          </a:xfrm>
          <a:prstGeom prst="rect">
            <a:avLst/>
          </a:prstGeom>
        </p:spPr>
        <p:txBody>
          <a:bodyPr anchor="t" rtlCol="false" tIns="0" lIns="0" bIns="0" rIns="0">
            <a:spAutoFit/>
          </a:bodyPr>
          <a:lstStyle/>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AI-base</a:t>
            </a:r>
            <a:r>
              <a:rPr lang="en-US" sz="4499">
                <a:solidFill>
                  <a:srgbClr val="000000"/>
                </a:solidFill>
                <a:latin typeface="Open Sans"/>
                <a:ea typeface="Open Sans"/>
                <a:cs typeface="Open Sans"/>
                <a:sym typeface="Open Sans"/>
              </a:rPr>
              <a:t>d demand prediction for menu planning.</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Campus ID integration for payment.</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Loyalty and reward programs.</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Expansion to multiple campus canteens.</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Data-driven decision-making for management.</a:t>
            </a:r>
          </a:p>
          <a:p>
            <a:pPr algn="just">
              <a:lnSpc>
                <a:spcPts val="6299"/>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82373" y="1373334"/>
            <a:ext cx="13923253" cy="1285865"/>
          </a:xfrm>
          <a:prstGeom prst="rect">
            <a:avLst/>
          </a:prstGeom>
        </p:spPr>
        <p:txBody>
          <a:bodyPr anchor="t" rtlCol="false" tIns="0" lIns="0" bIns="0" rIns="0">
            <a:spAutoFit/>
          </a:bodyPr>
          <a:lstStyle/>
          <a:p>
            <a:pPr algn="ctr">
              <a:lnSpc>
                <a:spcPts val="10500"/>
              </a:lnSpc>
            </a:pPr>
            <a:r>
              <a:rPr lang="en-US" b="true" sz="7500">
                <a:solidFill>
                  <a:srgbClr val="000000"/>
                </a:solidFill>
                <a:latin typeface="Proxima Nova Bold"/>
                <a:ea typeface="Proxima Nova Bold"/>
                <a:cs typeface="Proxima Nova Bold"/>
                <a:sym typeface="Proxima Nova Bold"/>
              </a:rPr>
              <a:t>COST &amp; FEASIBILITY</a:t>
            </a:r>
          </a:p>
        </p:txBody>
      </p:sp>
      <p:sp>
        <p:nvSpPr>
          <p:cNvPr name="TextBox 15" id="15"/>
          <p:cNvSpPr txBox="true"/>
          <p:nvPr/>
        </p:nvSpPr>
        <p:spPr>
          <a:xfrm rot="0">
            <a:off x="1158983" y="3739535"/>
            <a:ext cx="15970033" cy="4705352"/>
          </a:xfrm>
          <a:prstGeom prst="rect">
            <a:avLst/>
          </a:prstGeom>
        </p:spPr>
        <p:txBody>
          <a:bodyPr anchor="t" rtlCol="false" tIns="0" lIns="0" bIns="0" rIns="0">
            <a:spAutoFit/>
          </a:bodyPr>
          <a:lstStyle/>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Low to me</a:t>
            </a:r>
            <a:r>
              <a:rPr lang="en-US" sz="4499">
                <a:solidFill>
                  <a:srgbClr val="000000"/>
                </a:solidFill>
                <a:latin typeface="Open Sans"/>
                <a:ea typeface="Open Sans"/>
                <a:cs typeface="Open Sans"/>
                <a:sym typeface="Open Sans"/>
              </a:rPr>
              <a:t>dium development cost.</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Minimal hardware requirement.</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Si</a:t>
            </a:r>
            <a:r>
              <a:rPr lang="en-US" sz="4499">
                <a:solidFill>
                  <a:srgbClr val="000000"/>
                </a:solidFill>
                <a:latin typeface="Open Sans"/>
                <a:ea typeface="Open Sans"/>
                <a:cs typeface="Open Sans"/>
                <a:sym typeface="Open Sans"/>
              </a:rPr>
              <a:t>mple maintenance with periodic updates.</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Sc</a:t>
            </a:r>
            <a:r>
              <a:rPr lang="en-US" sz="4499">
                <a:solidFill>
                  <a:srgbClr val="000000"/>
                </a:solidFill>
                <a:latin typeface="Open Sans"/>
                <a:ea typeface="Open Sans"/>
                <a:cs typeface="Open Sans"/>
                <a:sym typeface="Open Sans"/>
              </a:rPr>
              <a:t>alable for multiple canteens.</a:t>
            </a:r>
          </a:p>
          <a:p>
            <a:pPr algn="just" marL="971535" indent="-485768" lvl="1">
              <a:lnSpc>
                <a:spcPts val="6299"/>
              </a:lnSpc>
              <a:spcBef>
                <a:spcPct val="0"/>
              </a:spcBef>
              <a:buFont typeface="Arial"/>
              <a:buChar char="•"/>
            </a:pPr>
            <a:r>
              <a:rPr lang="en-US" sz="4499">
                <a:solidFill>
                  <a:srgbClr val="000000"/>
                </a:solidFill>
                <a:latin typeface="Open Sans"/>
                <a:ea typeface="Open Sans"/>
                <a:cs typeface="Open Sans"/>
                <a:sym typeface="Open Sans"/>
              </a:rPr>
              <a:t>High re</a:t>
            </a:r>
            <a:r>
              <a:rPr lang="en-US" sz="4499">
                <a:solidFill>
                  <a:srgbClr val="000000"/>
                </a:solidFill>
                <a:latin typeface="Open Sans"/>
                <a:ea typeface="Open Sans"/>
                <a:cs typeface="Open Sans"/>
                <a:sym typeface="Open Sans"/>
              </a:rPr>
              <a:t>turn in efficiency and satisfaction.</a:t>
            </a:r>
          </a:p>
          <a:p>
            <a:pPr algn="just">
              <a:lnSpc>
                <a:spcPts val="6299"/>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182373" y="1373334"/>
            <a:ext cx="13923253" cy="1285865"/>
          </a:xfrm>
          <a:prstGeom prst="rect">
            <a:avLst/>
          </a:prstGeom>
        </p:spPr>
        <p:txBody>
          <a:bodyPr anchor="t" rtlCol="false" tIns="0" lIns="0" bIns="0" rIns="0">
            <a:spAutoFit/>
          </a:bodyPr>
          <a:lstStyle/>
          <a:p>
            <a:pPr algn="ctr">
              <a:lnSpc>
                <a:spcPts val="10500"/>
              </a:lnSpc>
            </a:pPr>
            <a:r>
              <a:rPr lang="en-US" b="true" sz="7500">
                <a:solidFill>
                  <a:srgbClr val="000000"/>
                </a:solidFill>
                <a:latin typeface="Proxima Nova Bold"/>
                <a:ea typeface="Proxima Nova Bold"/>
                <a:cs typeface="Proxima Nova Bold"/>
                <a:sym typeface="Proxima Nova Bold"/>
              </a:rPr>
              <a:t>CONCLUSION</a:t>
            </a:r>
          </a:p>
        </p:txBody>
      </p:sp>
      <p:sp>
        <p:nvSpPr>
          <p:cNvPr name="TextBox 15" id="15"/>
          <p:cNvSpPr txBox="true"/>
          <p:nvPr/>
        </p:nvSpPr>
        <p:spPr>
          <a:xfrm rot="0">
            <a:off x="1365467" y="3564693"/>
            <a:ext cx="15557067" cy="4908551"/>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Open Sans"/>
                <a:ea typeface="Open Sans"/>
                <a:cs typeface="Open Sans"/>
                <a:sym typeface="Open Sans"/>
              </a:rPr>
              <a:t>Foodzy provides a compreh</a:t>
            </a:r>
            <a:r>
              <a:rPr lang="en-US" sz="3999">
                <a:solidFill>
                  <a:srgbClr val="000000"/>
                </a:solidFill>
                <a:latin typeface="Open Sans"/>
                <a:ea typeface="Open Sans"/>
                <a:cs typeface="Open Sans"/>
                <a:sym typeface="Open Sans"/>
              </a:rPr>
              <a:t>ensive digital solution to long queues in campus canteens. It improves conven</a:t>
            </a:r>
            <a:r>
              <a:rPr lang="en-US" sz="3999">
                <a:solidFill>
                  <a:srgbClr val="000000"/>
                </a:solidFill>
                <a:latin typeface="Open Sans"/>
                <a:ea typeface="Open Sans"/>
                <a:cs typeface="Open Sans"/>
                <a:sym typeface="Open Sans"/>
              </a:rPr>
              <a:t>ienc</a:t>
            </a:r>
            <a:r>
              <a:rPr lang="en-US" sz="3999">
                <a:solidFill>
                  <a:srgbClr val="000000"/>
                </a:solidFill>
                <a:latin typeface="Open Sans"/>
                <a:ea typeface="Open Sans"/>
                <a:cs typeface="Open Sans"/>
                <a:sym typeface="Open Sans"/>
              </a:rPr>
              <a:t>e for students, enhances operational efficiency for staff, and enables data-driven decisions. By combining technology, analytics, and user-friendly des</a:t>
            </a:r>
            <a:r>
              <a:rPr lang="en-US" sz="3999">
                <a:solidFill>
                  <a:srgbClr val="000000"/>
                </a:solidFill>
                <a:latin typeface="Open Sans"/>
                <a:ea typeface="Open Sans"/>
                <a:cs typeface="Open Sans"/>
                <a:sym typeface="Open Sans"/>
              </a:rPr>
              <a:t>ign, Foodzy ensures a smooth, organized, and mode</a:t>
            </a:r>
            <a:r>
              <a:rPr lang="en-US" sz="3999">
                <a:solidFill>
                  <a:srgbClr val="000000"/>
                </a:solidFill>
                <a:latin typeface="Open Sans"/>
                <a:ea typeface="Open Sans"/>
                <a:cs typeface="Open Sans"/>
                <a:sym typeface="Open Sans"/>
              </a:rPr>
              <a:t>rn dining experience, with potential for future growth and expansion across multiple campus locations.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013131" y="3908425"/>
            <a:ext cx="10261737" cy="2222501"/>
          </a:xfrm>
          <a:prstGeom prst="rect">
            <a:avLst/>
          </a:prstGeom>
        </p:spPr>
        <p:txBody>
          <a:bodyPr anchor="t" rtlCol="false" tIns="0" lIns="0" bIns="0" rIns="0">
            <a:spAutoFit/>
          </a:bodyPr>
          <a:lstStyle/>
          <a:p>
            <a:pPr algn="ctr">
              <a:lnSpc>
                <a:spcPts val="18199"/>
              </a:lnSpc>
            </a:pPr>
            <a:r>
              <a:rPr lang="en-US" b="true" sz="12999">
                <a:solidFill>
                  <a:srgbClr val="000000"/>
                </a:solidFill>
                <a:latin typeface="Proxima Nova Bold"/>
                <a:ea typeface="Proxima Nova Bold"/>
                <a:cs typeface="Proxima Nova Bold"/>
                <a:sym typeface="Proxima Nova Bold"/>
              </a:rPr>
              <a:t>THANK YOU</a:t>
            </a:r>
          </a:p>
        </p:txBody>
      </p:sp>
      <p:sp>
        <p:nvSpPr>
          <p:cNvPr name="TextBox 15" id="15"/>
          <p:cNvSpPr txBox="true"/>
          <p:nvPr/>
        </p:nvSpPr>
        <p:spPr>
          <a:xfrm rot="0">
            <a:off x="0" y="7508442"/>
            <a:ext cx="7884700" cy="3489325"/>
          </a:xfrm>
          <a:prstGeom prst="rect">
            <a:avLst/>
          </a:prstGeom>
        </p:spPr>
        <p:txBody>
          <a:bodyPr anchor="t" rtlCol="false" tIns="0" lIns="0" bIns="0" rIns="0">
            <a:spAutoFit/>
          </a:bodyPr>
          <a:lstStyle/>
          <a:p>
            <a:pPr algn="l">
              <a:lnSpc>
                <a:spcPts val="3499"/>
              </a:lnSpc>
            </a:pPr>
            <a:r>
              <a:rPr lang="en-US" sz="2499">
                <a:solidFill>
                  <a:srgbClr val="000000"/>
                </a:solidFill>
                <a:latin typeface="Open Sans"/>
                <a:ea typeface="Open Sans"/>
                <a:cs typeface="Open Sans"/>
                <a:sym typeface="Open Sans"/>
              </a:rPr>
              <a:t>Group Members:</a:t>
            </a:r>
          </a:p>
          <a:p>
            <a:pPr algn="l">
              <a:lnSpc>
                <a:spcPts val="3499"/>
              </a:lnSpc>
            </a:pPr>
            <a:r>
              <a:rPr lang="en-US" sz="2499">
                <a:solidFill>
                  <a:srgbClr val="000000"/>
                </a:solidFill>
                <a:latin typeface="Open Sans"/>
                <a:ea typeface="Open Sans"/>
                <a:cs typeface="Open Sans"/>
                <a:sym typeface="Open Sans"/>
              </a:rPr>
              <a:t>Aswath S - [CB.PS.I5DAS23117]</a:t>
            </a:r>
          </a:p>
          <a:p>
            <a:pPr algn="l">
              <a:lnSpc>
                <a:spcPts val="3499"/>
              </a:lnSpc>
            </a:pPr>
            <a:r>
              <a:rPr lang="en-US" sz="2499">
                <a:solidFill>
                  <a:srgbClr val="000000"/>
                </a:solidFill>
                <a:latin typeface="Open Sans"/>
                <a:ea typeface="Open Sans"/>
                <a:cs typeface="Open Sans"/>
                <a:sym typeface="Open Sans"/>
              </a:rPr>
              <a:t>Hari Krishna - [CB.PS.I5DAS23127]</a:t>
            </a:r>
          </a:p>
          <a:p>
            <a:pPr algn="l">
              <a:lnSpc>
                <a:spcPts val="3499"/>
              </a:lnSpc>
            </a:pPr>
            <a:r>
              <a:rPr lang="en-US" sz="2499">
                <a:solidFill>
                  <a:srgbClr val="000000"/>
                </a:solidFill>
                <a:latin typeface="Open Sans"/>
                <a:ea typeface="Open Sans"/>
                <a:cs typeface="Open Sans"/>
                <a:sym typeface="Open Sans"/>
              </a:rPr>
              <a:t>Nagaraj Thamizharasan - [CB.PS.I5DAS23128]</a:t>
            </a:r>
          </a:p>
          <a:p>
            <a:pPr algn="l">
              <a:lnSpc>
                <a:spcPts val="3499"/>
              </a:lnSpc>
            </a:pPr>
            <a:r>
              <a:rPr lang="en-US" sz="2499">
                <a:solidFill>
                  <a:srgbClr val="000000"/>
                </a:solidFill>
                <a:latin typeface="Open Sans"/>
                <a:ea typeface="Open Sans"/>
                <a:cs typeface="Open Sans"/>
                <a:sym typeface="Open Sans"/>
              </a:rPr>
              <a:t>Sandeep Patel - [CB.PS.I5DAS23144]</a:t>
            </a:r>
          </a:p>
          <a:p>
            <a:pPr algn="l">
              <a:lnSpc>
                <a:spcPts val="3499"/>
              </a:lnSpc>
            </a:pPr>
            <a:r>
              <a:rPr lang="en-US" sz="2499">
                <a:solidFill>
                  <a:srgbClr val="000000"/>
                </a:solidFill>
                <a:latin typeface="Open Sans"/>
                <a:ea typeface="Open Sans"/>
                <a:cs typeface="Open Sans"/>
                <a:sym typeface="Open Sans"/>
              </a:rPr>
              <a:t>Sriram D - [CB.PS.I5DAS23156]</a:t>
            </a:r>
          </a:p>
          <a:p>
            <a:pPr algn="l">
              <a:lnSpc>
                <a:spcPts val="3499"/>
              </a:lnSpc>
            </a:pPr>
          </a:p>
          <a:p>
            <a:pPr algn="l">
              <a:lnSpc>
                <a:spcPts val="349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DAG0vxX_-V8</dc:identifier>
  <dcterms:modified xsi:type="dcterms:W3CDTF">2011-08-01T06:04:30Z</dcterms:modified>
  <cp:revision>1</cp:revision>
  <dc:title>Grey Black Minimalist Simple Project Presentation</dc:title>
</cp:coreProperties>
</file>